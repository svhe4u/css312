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45720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731520"/>
            <a:ext cx="2743200" cy="2743200"/>
          </a:xfrm>
          <a:prstGeom prst="ellipse">
            <a:avLst/>
          </a:prstGeom>
          <a:solidFill>
            <a:srgbClr val="0F1829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280160"/>
            <a:ext cx="1097280" cy="10972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" y="0"/>
            <a:ext cx="27432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502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 ҮНЭЛГЭЭ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6217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УЛСЫН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СТАНДАРТ БА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ЗАГВАРУУД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201168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49300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 ·  TMMi  ·  Биедаалт 2026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950208"/>
            <a:ext cx="5303520" cy="1005840"/>
          </a:xfrm>
          <a:prstGeom prst="rect">
            <a:avLst/>
          </a:prstGeom>
          <a:solidFill>
            <a:srgbClr val="14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950208"/>
            <a:ext cx="54864" cy="10058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40050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Багийн нэр  :  ___________________________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43891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Гишүүд        :  ______________  |  ______________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49423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Хамгаалах: 2026.03.20  ·  11:00 цагаас өмнө ITS Mandakh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Агуулгын Товч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77724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777240"/>
            <a:ext cx="1645920" cy="36576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" y="1307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65960" y="77724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777240"/>
            <a:ext cx="164592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29968" y="1307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77724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777240"/>
            <a:ext cx="1645920" cy="36576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813048" y="1307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77724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777240"/>
            <a:ext cx="164592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553212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596128" y="1307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0" y="77724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777240"/>
            <a:ext cx="1645920" cy="36576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868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79208" y="13075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219456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2194560"/>
            <a:ext cx="164592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8" name="Text 26"/>
          <p:cNvSpPr/>
          <p:nvPr/>
        </p:nvSpPr>
        <p:spPr>
          <a:xfrm>
            <a:off x="18288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46888" y="27249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 дээр хэрэглэсэн нь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965960" y="219456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65960" y="2194560"/>
            <a:ext cx="16459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2" name="Text 30"/>
          <p:cNvSpPr/>
          <p:nvPr/>
        </p:nvSpPr>
        <p:spPr>
          <a:xfrm>
            <a:off x="196596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2029968" y="27249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загвар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749040" y="219456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9040" y="2194560"/>
            <a:ext cx="16459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374904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3813048" y="27249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5 түвшин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532120" y="219456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2194560"/>
            <a:ext cx="16459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0" name="Text 38"/>
          <p:cNvSpPr/>
          <p:nvPr/>
        </p:nvSpPr>
        <p:spPr>
          <a:xfrm>
            <a:off x="553212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596128" y="27249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 &amp; Tools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315200" y="219456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2194560"/>
            <a:ext cx="16459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379208" y="272491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361188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" y="3611880"/>
            <a:ext cx="1645920" cy="36576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48" name="Text 46"/>
          <p:cNvSpPr/>
          <p:nvPr/>
        </p:nvSpPr>
        <p:spPr>
          <a:xfrm>
            <a:off x="18288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46888" y="41422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код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965960" y="361188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65960" y="3611880"/>
            <a:ext cx="1645920" cy="36576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2" name="Text 50"/>
          <p:cNvSpPr/>
          <p:nvPr/>
        </p:nvSpPr>
        <p:spPr>
          <a:xfrm>
            <a:off x="196596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2029968" y="41422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Reports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749040" y="361188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49040" y="3611880"/>
            <a:ext cx="164592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6" name="Text 54"/>
          <p:cNvSpPr/>
          <p:nvPr/>
        </p:nvSpPr>
        <p:spPr>
          <a:xfrm>
            <a:off x="374904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3813048" y="41422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Үр дүн &amp; Статистик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532120" y="361188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32120" y="3611880"/>
            <a:ext cx="164592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0" name="Text 58"/>
          <p:cNvSpPr/>
          <p:nvPr/>
        </p:nvSpPr>
        <p:spPr>
          <a:xfrm>
            <a:off x="553212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5596128" y="41422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7315200" y="3611880"/>
            <a:ext cx="1645920" cy="1207008"/>
          </a:xfrm>
          <a:prstGeom prst="rect">
            <a:avLst/>
          </a:prstGeom>
          <a:solidFill>
            <a:srgbClr val="141F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0" y="3611880"/>
            <a:ext cx="1645920" cy="36576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0" y="3703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7379208" y="414223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Онолын Үндэс — Программ Хангамжийн Чанар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097280"/>
            <a:ext cx="2377440" cy="274320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7373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ЧАНАР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гэж юу вэ?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777240"/>
            <a:ext cx="54864" cy="1097280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77724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Suitability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34640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600" y="210312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103120"/>
            <a:ext cx="54864" cy="109728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1031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28600" y="342900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3429000"/>
            <a:ext cx="54864" cy="1097280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290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834640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355080" y="77724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5080" y="777240"/>
            <a:ext cx="54864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7772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833872" y="11430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355080" y="210312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2103120"/>
            <a:ext cx="54864" cy="10972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1031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833872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355080" y="3429000"/>
            <a:ext cx="2560320" cy="1097280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429000"/>
            <a:ext cx="54864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34290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833872" y="37947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25010:2023 — 9 шинж чанарын загвар · хуудас 1–15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36576" cy="5143500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ХЭСЭГ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25010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Программ хангамжийн чанарын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олон улсын стандарт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94960" y="6400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903720" y="7132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Анхны хувилбар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6459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903720" y="17190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Шинэчилсэн хувилбар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6517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903720" y="2724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Үндсэн шинж чанар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36576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37307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Дэд шинж чанар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Ашиглах Боломж (Usability)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13232"/>
            <a:ext cx="8686800" cy="56692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54864" cy="56692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772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Хэрэглэгч системийг ойлгож, сурч, ашиглахад хялбар байдал — ISO/IEC 25010:2011, хуудас 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89888"/>
            <a:ext cx="2788920" cy="352044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89888"/>
            <a:ext cx="2788920" cy="54864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5087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" y="2148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(Сурах хялбар байдал)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2560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Анх удаа ашигласан хэрэглэгч хэр хурдан эзэмшдэг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8328" y="33101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3355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Эхний ашиглалтын амжилт ≥ 80%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3858768"/>
            <a:ext cx="2578608" cy="457200"/>
          </a:xfrm>
          <a:prstGeom prst="rect">
            <a:avLst/>
          </a:prstGeom>
          <a:solidFill>
            <a:srgbClr val="0F1829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90448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Бидний систем: 82% 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54680" y="1389888"/>
            <a:ext cx="2788920" cy="352044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54680" y="1389888"/>
            <a:ext cx="278892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3264408" y="15087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Operability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264408" y="2148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(Ажиллуулах хялбар байдал)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64408" y="2560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Даалгавар гүйцэтгэхэд шаардагдах дарах тоо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64408" y="33101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4" name="Text 22"/>
          <p:cNvSpPr/>
          <p:nvPr/>
        </p:nvSpPr>
        <p:spPr>
          <a:xfrm>
            <a:off x="3319272" y="3355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Нэвтрэх: ≤ 3 дарах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3858768"/>
            <a:ext cx="2578608" cy="457200"/>
          </a:xfrm>
          <a:prstGeom prst="rect">
            <a:avLst/>
          </a:prstGeom>
          <a:solidFill>
            <a:srgbClr val="0F182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9272" y="390448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Бидний систем: 2 дарах 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1389888"/>
            <a:ext cx="2788920" cy="352044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1389888"/>
            <a:ext cx="278892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9" name="Text 27"/>
          <p:cNvSpPr/>
          <p:nvPr/>
        </p:nvSpPr>
        <p:spPr>
          <a:xfrm>
            <a:off x="6190488" y="1508760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Error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190488" y="214884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(Алдаанаас хамгаалалт)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56032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Буруу оролтоос хэрэглэгчийг хамгаалах механизм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0488" y="33101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3355848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Алдааны мессеж &lt; 3 сек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0488" y="3858768"/>
            <a:ext cx="2578608" cy="457200"/>
          </a:xfrm>
          <a:prstGeom prst="rect">
            <a:avLst/>
          </a:prstGeom>
          <a:solidFill>
            <a:srgbClr val="0F18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390448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Бидний систем: 1.2 сек 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Найдвартай Байдал (Reliability)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13232"/>
            <a:ext cx="8686800" cy="50292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54864" cy="5029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 тогтоосон нөхцөлд, тогтоосон хугацаанд зөв ажиллах чадвар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53312"/>
            <a:ext cx="21031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95728" y="1353312"/>
            <a:ext cx="4389120" cy="73152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4630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𝑓(x) = MTBF / (MTBF + MTTR) × 100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1353312"/>
            <a:ext cx="100584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35331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99.7%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6992" y="1353312"/>
            <a:ext cx="960120" cy="731520"/>
          </a:xfrm>
          <a:prstGeom prst="rect">
            <a:avLst/>
          </a:prstGeom>
          <a:solidFill>
            <a:srgbClr val="1A3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44475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≥ 99%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221992"/>
            <a:ext cx="21031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13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Tolerance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395728" y="2221992"/>
            <a:ext cx="4389120" cy="73152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14600" y="233172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𝑓(x) = Detected Faults / Total Faults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2221992"/>
            <a:ext cx="100584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22199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91%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936992" y="2221992"/>
            <a:ext cx="960120" cy="731520"/>
          </a:xfrm>
          <a:prstGeom prst="rect">
            <a:avLst/>
          </a:prstGeom>
          <a:solidFill>
            <a:srgbClr val="1A3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23134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≥ 90%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090672"/>
            <a:ext cx="21031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182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Recoverability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395728" y="3090672"/>
            <a:ext cx="4389120" cy="73152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320040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𝑓(x) = RTO хэмжилт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090672"/>
            <a:ext cx="100584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0" y="309067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2.1 цаг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36992" y="3090672"/>
            <a:ext cx="960120" cy="731520"/>
          </a:xfrm>
          <a:prstGeom prst="rect">
            <a:avLst/>
          </a:prstGeom>
          <a:solidFill>
            <a:srgbClr val="1A3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31821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&lt; 4 цаг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28600" y="3959352"/>
            <a:ext cx="21031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05079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Maturity (MTBF)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395728" y="3959352"/>
            <a:ext cx="4389120" cy="73152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14600" y="40690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𝑓(x) = Нийт цаг / Доголдлын тоо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3959352"/>
            <a:ext cx="100584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395935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312 цаг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36992" y="3959352"/>
            <a:ext cx="960120" cy="731520"/>
          </a:xfrm>
          <a:prstGeom prst="rect">
            <a:avLst/>
          </a:prstGeom>
          <a:solidFill>
            <a:srgbClr val="1A3A2A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4050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&gt; 200цаг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ISO/IEC 25010:2011 хуудас 8–10 | Pressman (2014) хуудас 512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Үр Ашигт Байдал (Performance Efficiency)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13232"/>
            <a:ext cx="8686800" cy="50292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13232"/>
            <a:ext cx="54864" cy="502920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77724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Нөөц (цаг, CPU, санах ой) оновчтой ашиглан тогтоосон гүйцэтгэл хангах чадвар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25880"/>
            <a:ext cx="2788920" cy="358444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325880"/>
            <a:ext cx="2788920" cy="54864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42646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Behavior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8328" y="19933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(Хугацааны зан төлөв)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23957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&lt; 200ms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187ms ✅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8328" y="33101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Throughput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≥ 100 req/s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124 req/s 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" y="42245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Tool: JMeter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1325880"/>
            <a:ext cx="2788920" cy="3584448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1325880"/>
            <a:ext cx="278892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5" name="Text 23"/>
          <p:cNvSpPr/>
          <p:nvPr/>
        </p:nvSpPr>
        <p:spPr>
          <a:xfrm>
            <a:off x="3264408" y="142646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Resource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Utilization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264408" y="19933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(Нөөц ашиглалт)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64408" y="23957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CPU ачаалал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9272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&lt; 80%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43% 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64408" y="33101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2" name="Text 30"/>
          <p:cNvSpPr/>
          <p:nvPr/>
        </p:nvSpPr>
        <p:spPr>
          <a:xfrm>
            <a:off x="3319272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RAM хэрэглээ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9272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&lt; 70%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38% 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64408" y="42245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6" name="Text 34"/>
          <p:cNvSpPr/>
          <p:nvPr/>
        </p:nvSpPr>
        <p:spPr>
          <a:xfrm>
            <a:off x="3319272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Tool: Prometheus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80760" y="1325880"/>
            <a:ext cx="2788920" cy="3584448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80760" y="1325880"/>
            <a:ext cx="278892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9" name="Text 37"/>
          <p:cNvSpPr/>
          <p:nvPr/>
        </p:nvSpPr>
        <p:spPr>
          <a:xfrm>
            <a:off x="6190488" y="1426464"/>
            <a:ext cx="2578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Capacity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190488" y="1993392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(Дааж чадах хэмжээ)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190488" y="23957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42" name="Text 40"/>
          <p:cNvSpPr/>
          <p:nvPr/>
        </p:nvSpPr>
        <p:spPr>
          <a:xfrm>
            <a:off x="6245352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 users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45352" y="26974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≥ 100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98080" y="2670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134 ✅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90488" y="3310128"/>
            <a:ext cx="2578608" cy="77724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46" name="Text 44"/>
          <p:cNvSpPr/>
          <p:nvPr/>
        </p:nvSpPr>
        <p:spPr>
          <a:xfrm>
            <a:off x="6245352" y="3355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Stress test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45352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Тодорхойлох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498080" y="35844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1000-д гацна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190488" y="4224528"/>
            <a:ext cx="2578608" cy="47548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50" name="Text 48"/>
          <p:cNvSpPr/>
          <p:nvPr/>
        </p:nvSpPr>
        <p:spPr>
          <a:xfrm>
            <a:off x="6245352" y="42519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Tool: JMeter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— Login Систем дээр Хэрэглэсэн Үнэлгээ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31520"/>
            <a:ext cx="2057400" cy="1508760"/>
          </a:xfrm>
          <a:prstGeom prst="rect">
            <a:avLst/>
          </a:prstGeom>
          <a:solidFill>
            <a:srgbClr val="0C2A1E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955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 completion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41448" y="731520"/>
            <a:ext cx="2057400" cy="1508760"/>
          </a:xfrm>
          <a:prstGeom prst="rect">
            <a:avLst/>
          </a:prstGeom>
          <a:solidFill>
            <a:srgbClr val="0C2A1E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7955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41448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99.7%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41448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54296" y="731520"/>
            <a:ext cx="2057400" cy="1508760"/>
          </a:xfrm>
          <a:prstGeom prst="rect">
            <a:avLst/>
          </a:prstGeom>
          <a:solidFill>
            <a:srgbClr val="0C2A1E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45736" y="7955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54296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187ms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54296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response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67144" y="731520"/>
            <a:ext cx="2057400" cy="1508760"/>
          </a:xfrm>
          <a:prstGeom prst="rect">
            <a:avLst/>
          </a:prstGeom>
          <a:solidFill>
            <a:srgbClr val="0F18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8584" y="79552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67144" y="118872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67144" y="1901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/ XSS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77440"/>
          <a:ext cx="8686800" cy="2578608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868680"/>
                <a:gridCol w="9144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Шинж чанар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Хэмжсэн хэмжүүр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Утга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Шалгуур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Дүгнэлт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Usability — Learnability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Task completion rate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82%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≥ 80%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Reliability — Availability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Uptime % (3 хоног)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99.7%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≥ 99%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 — Time Behavior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Avg response time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187 ms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200ms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 — SQL Injection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Penetration test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BLOCK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BUG-001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Security — XSS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OWASP ZAP scan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BLOCK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BUG-002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Maintainability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 code coverage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74%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≥ 80%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⚠ Дунд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9144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1E3A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</a:t>
            </a:r>
            <a:endParaRPr lang="en-US" sz="16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ХЭСЭГ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Maturity Model Integration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Байгууллагын туршилтын процессын боловсронгуй байдлын загвар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45920" y="3108960"/>
            <a:ext cx="685800" cy="6858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127248" y="3108960"/>
            <a:ext cx="685800" cy="6858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/>
          <p:nvPr/>
        </p:nvSpPr>
        <p:spPr>
          <a:xfrm>
            <a:off x="3127248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08576" y="3108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89904" y="3108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089904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571232" y="3108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571232" y="3108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0" y="3977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Одоогийн түвшин (Level 2)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5 Боловсронгуй Байдлын Түвшин (Pyramid)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749808"/>
            <a:ext cx="1828800" cy="713232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94760" y="8229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Lv.5 — Optimizing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94760" y="115214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Байнгын сайжруулалт, automation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536192"/>
            <a:ext cx="2926080" cy="713232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609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Lv.4 — Measured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Статистик хэмжилт, урьдчилсан таамаглал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2322576"/>
            <a:ext cx="4206240" cy="713232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95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Lv.3 — Defined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724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Нийтлэг стандарт, SDLC интеграц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3108960"/>
            <a:ext cx="5669280" cy="71323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108960"/>
            <a:ext cx="566928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31821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Lv.2 — Managed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74520" y="35112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Plan, Test Cases бий болсон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516368" y="33101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 БИДНИЙ ТҮВШИН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895344"/>
            <a:ext cx="7315200" cy="713232"/>
          </a:xfrm>
          <a:prstGeom prst="rect">
            <a:avLst/>
          </a:prstGeom>
          <a:solidFill>
            <a:srgbClr val="141F3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968496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Lv.1 — Initial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29768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Ad-hoc, тогтсон процесс байхгүй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Ишлэл: Van Veenendaal, E. (2012). The TMMi Professional — хуудас 23–41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— Түвшин Бүрийн Нарийвчилсан Тайлбар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804672"/>
            <a:ext cx="658368" cy="65836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8046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60120" y="749808"/>
            <a:ext cx="182880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79552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4128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Areas: 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52928" y="749808"/>
            <a:ext cx="411480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822960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 debugging-тай хольж хутгадаг. Тогтсон процесс байхгүй.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040880" y="749808"/>
            <a:ext cx="18745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4032" y="8046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14032" y="1060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1655064"/>
            <a:ext cx="658368" cy="65836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16550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60120" y="1600200"/>
            <a:ext cx="182880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16459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20391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Areas: 5 PA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52928" y="1600200"/>
            <a:ext cx="411480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2" name="Text 20"/>
          <p:cNvSpPr/>
          <p:nvPr/>
        </p:nvSpPr>
        <p:spPr>
          <a:xfrm>
            <a:off x="2926080" y="1673352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Plan, Test Case, орчин бий. Бидний систем энэ түвшинд байна.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40880" y="1600200"/>
            <a:ext cx="18745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5506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14032" y="1911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Дунд IT компани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2505456"/>
            <a:ext cx="658368" cy="658368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" y="2505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960120" y="2450592"/>
            <a:ext cx="182880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4128" y="24963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4128" y="28895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Areas: 5 PA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52928" y="2450592"/>
            <a:ext cx="411480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2" name="Text 30"/>
          <p:cNvSpPr/>
          <p:nvPr/>
        </p:nvSpPr>
        <p:spPr>
          <a:xfrm>
            <a:off x="2926080" y="2523744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 SDLC-д бүрэн интегрчлэгдсэн. Нийтлэг стандарт дагадаг.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040880" y="2450592"/>
            <a:ext cx="18745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14032" y="25054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14032" y="2761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Том компани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8600" y="3355848"/>
            <a:ext cx="658368" cy="658368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7" name="Text 35"/>
          <p:cNvSpPr/>
          <p:nvPr/>
        </p:nvSpPr>
        <p:spPr>
          <a:xfrm>
            <a:off x="228600" y="3355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60120" y="3300984"/>
            <a:ext cx="182880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3346704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24128" y="37398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Areas: 3 PA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52928" y="3300984"/>
            <a:ext cx="411480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42" name="Text 40"/>
          <p:cNvSpPr/>
          <p:nvPr/>
        </p:nvSpPr>
        <p:spPr>
          <a:xfrm>
            <a:off x="2926080" y="3374136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Статистик дүн шинжилгээ. Defect урьдчилан таамаглах боломжтой.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040880" y="3300984"/>
            <a:ext cx="18745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14032" y="3355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114032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Банк, санхүү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28600" y="4206240"/>
            <a:ext cx="658368" cy="658368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47" name="Text 45"/>
          <p:cNvSpPr/>
          <p:nvPr/>
        </p:nvSpPr>
        <p:spPr>
          <a:xfrm>
            <a:off x="228600" y="4206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48" name="Shape 46"/>
          <p:cNvSpPr/>
          <p:nvPr/>
        </p:nvSpPr>
        <p:spPr>
          <a:xfrm>
            <a:off x="960120" y="4151376"/>
            <a:ext cx="182880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24128" y="4197096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24128" y="45902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 Areas: 3 PA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52928" y="4151376"/>
            <a:ext cx="4114800" cy="73152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52" name="Text 50"/>
          <p:cNvSpPr/>
          <p:nvPr/>
        </p:nvSpPr>
        <p:spPr>
          <a:xfrm>
            <a:off x="2926080" y="4224528"/>
            <a:ext cx="3977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Байнгын сайжруулалт. Test automation нэн дээд. Шинэ tech нэвтрүүлнэ.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40880" y="4151376"/>
            <a:ext cx="1874520" cy="73152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1403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Жишээ: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114032" y="4462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Google, Microsoft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Систем, Төлөвлөгөө ба Хэрэгслүүд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49808"/>
            <a:ext cx="4160520" cy="420624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160520" cy="54864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841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📋  TEST PLAN (IEEE 829)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1325880"/>
            <a:ext cx="2651760" cy="3657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6245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136245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TP-SQA-2026-001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755648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4" name="Shape 12"/>
          <p:cNvSpPr/>
          <p:nvPr/>
        </p:nvSpPr>
        <p:spPr>
          <a:xfrm>
            <a:off x="1572768" y="1755648"/>
            <a:ext cx="265176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179222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Систем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179222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 Module (Node.js)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185416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8" name="Shape 16"/>
          <p:cNvSpPr/>
          <p:nvPr/>
        </p:nvSpPr>
        <p:spPr>
          <a:xfrm>
            <a:off x="1572768" y="2185416"/>
            <a:ext cx="2651760" cy="3657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22199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Хамрах хүрээ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222199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Login, Register, Session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2" name="Shape 20"/>
          <p:cNvSpPr/>
          <p:nvPr/>
        </p:nvSpPr>
        <p:spPr>
          <a:xfrm>
            <a:off x="1572768" y="2615184"/>
            <a:ext cx="265176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2651760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Арга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2651760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Black-box + White-box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044952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6" name="Shape 24"/>
          <p:cNvSpPr/>
          <p:nvPr/>
        </p:nvSpPr>
        <p:spPr>
          <a:xfrm>
            <a:off x="1572768" y="3044952"/>
            <a:ext cx="2651760" cy="3657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3081528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Хугацаа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081528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03.10 – 03.18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474720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0" name="Shape 28"/>
          <p:cNvSpPr/>
          <p:nvPr/>
        </p:nvSpPr>
        <p:spPr>
          <a:xfrm>
            <a:off x="1572768" y="3474720"/>
            <a:ext cx="265176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511296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Шалгуур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45920" y="3511296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≥90%, Critical=0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904488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4" name="Shape 32"/>
          <p:cNvSpPr/>
          <p:nvPr/>
        </p:nvSpPr>
        <p:spPr>
          <a:xfrm>
            <a:off x="1572768" y="3904488"/>
            <a:ext cx="2651760" cy="3657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5" name="Text 33"/>
          <p:cNvSpPr/>
          <p:nvPr/>
        </p:nvSpPr>
        <p:spPr>
          <a:xfrm>
            <a:off x="384048" y="3941064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Хэрэгслүүд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645920" y="3941064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Selenium, Jest, Postman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4334256"/>
            <a:ext cx="123444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8" name="Shape 36"/>
          <p:cNvSpPr/>
          <p:nvPr/>
        </p:nvSpPr>
        <p:spPr>
          <a:xfrm>
            <a:off x="1572768" y="4334256"/>
            <a:ext cx="2651760" cy="3657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9" name="Text 37"/>
          <p:cNvSpPr/>
          <p:nvPr/>
        </p:nvSpPr>
        <p:spPr>
          <a:xfrm>
            <a:off x="384048" y="4370832"/>
            <a:ext cx="1143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645920" y="4370832"/>
            <a:ext cx="2542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2 — Managed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749808"/>
            <a:ext cx="4315968" cy="420624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749808"/>
            <a:ext cx="4315968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43" name="Text 41"/>
          <p:cNvSpPr/>
          <p:nvPr/>
        </p:nvSpPr>
        <p:spPr>
          <a:xfrm>
            <a:off x="4690872" y="841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 ХЭРЭГСЛҮҮД (Tools)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663440" y="1325880"/>
            <a:ext cx="1920240" cy="1572768"/>
          </a:xfrm>
          <a:prstGeom prst="rect">
            <a:avLst/>
          </a:prstGeom>
          <a:solidFill>
            <a:srgbClr val="0F1829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1325880"/>
            <a:ext cx="1920240" cy="54864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6" name="Text 44"/>
          <p:cNvSpPr/>
          <p:nvPr/>
        </p:nvSpPr>
        <p:spPr>
          <a:xfrm>
            <a:off x="4663440" y="1527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4663440" y="2130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Automation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48272" y="1325880"/>
            <a:ext cx="1920240" cy="1572768"/>
          </a:xfrm>
          <a:prstGeom prst="rect">
            <a:avLst/>
          </a:prstGeom>
          <a:solidFill>
            <a:srgbClr val="0F18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48272" y="1325880"/>
            <a:ext cx="192024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0" name="Text 48"/>
          <p:cNvSpPr/>
          <p:nvPr/>
        </p:nvSpPr>
        <p:spPr>
          <a:xfrm>
            <a:off x="6748272" y="15270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Jest</a:t>
            </a:r>
            <a:endParaRPr lang="en-US" sz="1700" dirty="0"/>
          </a:p>
        </p:txBody>
      </p:sp>
      <p:sp>
        <p:nvSpPr>
          <p:cNvPr id="51" name="Text 49"/>
          <p:cNvSpPr/>
          <p:nvPr/>
        </p:nvSpPr>
        <p:spPr>
          <a:xfrm>
            <a:off x="6748272" y="21305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63440" y="3154680"/>
            <a:ext cx="1920240" cy="1572768"/>
          </a:xfrm>
          <a:prstGeom prst="rect">
            <a:avLst/>
          </a:prstGeom>
          <a:solidFill>
            <a:srgbClr val="0F182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154680"/>
            <a:ext cx="192024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3355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Postman</a:t>
            </a:r>
            <a:endParaRPr lang="en-US" sz="1700" dirty="0"/>
          </a:p>
        </p:txBody>
      </p:sp>
      <p:sp>
        <p:nvSpPr>
          <p:cNvPr id="55" name="Text 53"/>
          <p:cNvSpPr/>
          <p:nvPr/>
        </p:nvSpPr>
        <p:spPr>
          <a:xfrm>
            <a:off x="4663440" y="3959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748272" y="3154680"/>
            <a:ext cx="1920240" cy="1572768"/>
          </a:xfrm>
          <a:prstGeom prst="rect">
            <a:avLst/>
          </a:prstGeom>
          <a:solidFill>
            <a:srgbClr val="0F18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748272" y="315468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8" name="Text 56"/>
          <p:cNvSpPr/>
          <p:nvPr/>
        </p:nvSpPr>
        <p:spPr>
          <a:xfrm>
            <a:off x="6748272" y="33558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 ZAP</a:t>
            </a:r>
            <a:endParaRPr lang="en-US" sz="1700" dirty="0"/>
          </a:p>
        </p:txBody>
      </p:sp>
      <p:sp>
        <p:nvSpPr>
          <p:cNvPr id="59" name="Text 57"/>
          <p:cNvSpPr/>
          <p:nvPr/>
        </p:nvSpPr>
        <p:spPr>
          <a:xfrm>
            <a:off x="6748272" y="39593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Scan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Тохиолдлууд (Test Cases) — TC-01 ~ TC-10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31520"/>
          <a:ext cx="8778240" cy="4224528"/>
        </p:xfrm>
        <a:graphic>
          <a:graphicData uri="http://schemas.openxmlformats.org/drawingml/2006/table">
            <a:tbl>
              <a:tblPr/>
              <a:tblGrid>
                <a:gridCol w="685800"/>
                <a:gridCol w="1600200"/>
                <a:gridCol w="1188720"/>
                <a:gridCol w="1554480"/>
                <a:gridCol w="1965960"/>
                <a:gridCol w="8229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TC-ID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Тохиолдол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Хэрэгсэл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Оролт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Хүлээгдэх үр дүн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Статус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TC-01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нэвтрэх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Selenium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admin/Admin@123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Dashboard руу шилжих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Буруу нууц үг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Selenium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admin/wrongpass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Алдааны мессеж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Хоосон нэр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Selenium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(хоосон)/pass123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 мессеж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SQL Injection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Selenium+ZAP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 OR 1=1 --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401 Unauthorized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FAIL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 Lockout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Selenium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x5 буруу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Account хаагдах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FAIL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бүртгэл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Зөв өгөгдөл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Амжилттай бүртгэл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Давхцсан email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Байгаа email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'Бүртгэлтэй' алдаа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Нууц үг богино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Pass: 12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Min 8 тэмдэгт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TC-09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XSS оролт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Jest+ZAP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&lt;script&gt;alert&lt;/script&gt;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Sanitize хийх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❌ FAIL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TC-10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 формат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Jest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test@invalid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Формат алдаа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✅ PASS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F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Кодын Жишээ ба Дүн Шинжилгээ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31520"/>
            <a:ext cx="8686800" cy="384048"/>
          </a:xfrm>
          <a:prstGeom prst="rect">
            <a:avLst/>
          </a:prstGeom>
          <a:solidFill>
            <a:srgbClr val="0F1829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7772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📁  github.com/[багийн нэр]/sqa-login-test-2026  ·  tests/selenium/login.test.js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170432"/>
            <a:ext cx="5394960" cy="36118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34440"/>
            <a:ext cx="5212080" cy="34747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TC-04: SQL Injection шалгалт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tc04_sqlInjection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(driver)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.get(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BASE_URL+'/login'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.findElement(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'username'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.sendKeys(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 OR '1'='1' --"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</a:t>
            </a:r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driver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.findElement(</a:t>
            </a:r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'submit-btn'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)).click();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driver.sleep(2000);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url = await driver.getCurrentUrl();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(url.includes(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'/dashboard'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'TC-04'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'FAIL'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'🚨 BUG-001 confirmed'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 log(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'TC-04'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'PASS'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'Injection blocked'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1170432"/>
            <a:ext cx="3154680" cy="361188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0448" y="126187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🔍 Дүн Шинжилгээ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52160" y="1719072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3" name="Text 11"/>
          <p:cNvSpPr/>
          <p:nvPr/>
        </p:nvSpPr>
        <p:spPr>
          <a:xfrm>
            <a:off x="5925312" y="17556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async/await — орчин үеийн Node.js стандарт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194560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5" name="Text 13"/>
          <p:cNvSpPr/>
          <p:nvPr/>
        </p:nvSpPr>
        <p:spPr>
          <a:xfrm>
            <a:off x="5925312" y="22311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Builder pattern — орчны уян хатан байдал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2670048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7" name="Text 15"/>
          <p:cNvSpPr/>
          <p:nvPr/>
        </p:nvSpPr>
        <p:spPr>
          <a:xfrm>
            <a:off x="5925312" y="27066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Log функц — TC-ID, статус бүрдсэн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52160" y="3145536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9" name="Text 17"/>
          <p:cNvSpPr/>
          <p:nvPr/>
        </p:nvSpPr>
        <p:spPr>
          <a:xfrm>
            <a:off x="5925312" y="31821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❌ Assert/expect байхгүй — зөвхөн URL шалгасан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52160" y="3621024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1" name="Text 19"/>
          <p:cNvSpPr/>
          <p:nvPr/>
        </p:nvSpPr>
        <p:spPr>
          <a:xfrm>
            <a:off x="5925312" y="365760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❌ Screenshot авдаггүй — баримтжуулалт дутмаг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52160" y="4096512"/>
            <a:ext cx="2971800" cy="420624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3" name="Text 21"/>
          <p:cNvSpPr/>
          <p:nvPr/>
        </p:nvSpPr>
        <p:spPr>
          <a:xfrm>
            <a:off x="5925312" y="41330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⚠ Hard-coded URL — config файл ашиглах хэрэгтэй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Эх: github.com/harishyadav15/NodeJS-Login-Test | Тусгай дүн шинжилгээ — SQA Баг 2026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Алдааны Тайлан (Bug Reports) — BUG-001 ~ 003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49808"/>
            <a:ext cx="8686800" cy="1298448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73152" cy="12984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" y="822960"/>
            <a:ext cx="1371600" cy="384048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4124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🔴 CRITICAL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92224" y="8229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85953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TC: TC-04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2801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SQL Injection хамгаалалтгүй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username: ' OR '1'='1' -- → системд нэвтэрч чадна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859536"/>
            <a:ext cx="4206240" cy="45720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9052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Засах: Parameterized query ашиглах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408176"/>
            <a:ext cx="42062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81728" y="14813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user=?  // 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2167128"/>
            <a:ext cx="8686800" cy="1298448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167128"/>
            <a:ext cx="73152" cy="129844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2240280"/>
            <a:ext cx="1371600" cy="384048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2585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🟠 HIGH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92224" y="22402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34640" y="227685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TC: TC-09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2697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XSS script tag цэвэрлэгддэггүй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84048" y="30815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&lt;script&gt;alert('XSS')&lt;/script&gt; → alert цонх гарна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76856"/>
            <a:ext cx="4206240" cy="45720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23225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Засах: DOMPurify / helmet.js CSP тохиргоо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2825496"/>
            <a:ext cx="42062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898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sanitize(input) // 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584448"/>
            <a:ext cx="8686800" cy="1298448"/>
          </a:xfrm>
          <a:prstGeom prst="rect">
            <a:avLst/>
          </a:prstGeom>
          <a:solidFill>
            <a:srgbClr val="141F3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584448"/>
            <a:ext cx="73152" cy="12984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2" name="Shape 30"/>
          <p:cNvSpPr/>
          <p:nvPr/>
        </p:nvSpPr>
        <p:spPr>
          <a:xfrm>
            <a:off x="347472" y="3657600"/>
            <a:ext cx="1371600" cy="384048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3" name="Text 31"/>
          <p:cNvSpPr/>
          <p:nvPr/>
        </p:nvSpPr>
        <p:spPr>
          <a:xfrm>
            <a:off x="384048" y="367588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🟠 HIGH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792224" y="36576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834640" y="369417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TC: TC-05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84048" y="41148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 lockout механизм байхгүй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4048" y="4498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Нөхцөл: 100+ буруу нэвтрэлт → хэзээ ч блоклогддоггүй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3694176"/>
            <a:ext cx="4206240" cy="45720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Засах: express-rate-limit (max:5, window:15min)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4242816"/>
            <a:ext cx="4206240" cy="502920"/>
          </a:xfrm>
          <a:prstGeom prst="rect">
            <a:avLst/>
          </a:prstGeom>
          <a:solidFill>
            <a:srgbClr val="0D1117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43159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loginLimiter // ✅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Туршилтын Үр Дүнгийн Хяналтын Самбар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521208" y="731520"/>
            <a:ext cx="1463040" cy="1463040"/>
          </a:xfrm>
          <a:prstGeom prst="ellipse">
            <a:avLst/>
          </a:prstGeom>
          <a:solidFill>
            <a:srgbClr val="141F35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" y="749808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228600" y="22677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Нийт TC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34056" y="731520"/>
            <a:ext cx="1463040" cy="1463040"/>
          </a:xfrm>
          <a:prstGeom prst="ellipse">
            <a:avLst/>
          </a:prstGeom>
          <a:solidFill>
            <a:srgbClr val="141F35"/>
          </a:solidFill>
          <a:ln/>
        </p:spPr>
      </p:sp>
      <p:sp>
        <p:nvSpPr>
          <p:cNvPr id="10" name="Text 8"/>
          <p:cNvSpPr/>
          <p:nvPr/>
        </p:nvSpPr>
        <p:spPr>
          <a:xfrm>
            <a:off x="2734056" y="749808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2441448" y="22677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46904" y="731520"/>
            <a:ext cx="1463040" cy="1463040"/>
          </a:xfrm>
          <a:prstGeom prst="ellipse">
            <a:avLst/>
          </a:prstGeom>
          <a:solidFill>
            <a:srgbClr val="141F35"/>
          </a:solidFill>
          <a:ln/>
        </p:spPr>
      </p:sp>
      <p:sp>
        <p:nvSpPr>
          <p:cNvPr id="13" name="Text 11"/>
          <p:cNvSpPr/>
          <p:nvPr/>
        </p:nvSpPr>
        <p:spPr>
          <a:xfrm>
            <a:off x="4946904" y="749808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654296" y="22677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59752" y="731520"/>
            <a:ext cx="1463040" cy="1463040"/>
          </a:xfrm>
          <a:prstGeom prst="ellipse">
            <a:avLst/>
          </a:prstGeom>
          <a:solidFill>
            <a:srgbClr val="141F35"/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749808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6867144" y="22677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28600" y="2761488"/>
            <a:ext cx="8686800" cy="502920"/>
          </a:xfrm>
          <a:prstGeom prst="rect">
            <a:avLst/>
          </a:prstGeom>
          <a:solidFill>
            <a:srgbClr val="0F1829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761488"/>
            <a:ext cx="6080760" cy="5029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F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Pass Rate: 70%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28163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Зорилт: ≥ 90%  →  Хангаагүй 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3401568"/>
            <a:ext cx="4251960" cy="1572768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456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Дүгнэлт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" y="3877056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Usability 82%  |  ✅ Reliability 99.7%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✅ Performance 187ms  |  ❌ Security FAIL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3401568"/>
            <a:ext cx="4251960" cy="1572768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4564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TMMi Дүгнэлт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73168" y="3877056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Одоогийн түвшин: Level 2 — Managed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Level 3 рүү: SDLC интеграц шаардлагатай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Ашигласан Ном, Судалгааны Ажлын Ишлэл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49808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7498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[1]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749808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786384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25010:2011. Systems and software quality models.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069848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International Organization for Standardization — хуудас 1–15 (Quality characteristics)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463040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4630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[2]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1463040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1499616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Myers, G. J., Sandler, C., &amp; Badgett, T. (2011). The Art of Software Testing, 3rd ed.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783080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John Wiley &amp; Sons — хуудас 45–62 (Test case design), 89–104 (Bug reporting)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176272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1762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[3]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2176272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21284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 Veenendaal, E. (2012). The TMMi Professional.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496312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Uitgeverij Tutein Nolthenius — хуудас 23–41 (TMMi levels), 55–78 (Process areas)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89504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8895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[4]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2889504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2926080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Pressman, R. S. (2014). Software Engineering: A Practitioner's Approach, 8th ed.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3209544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McGraw-Hill — хуудас 512–534 (Software testing strategies)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602736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36027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CDC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[5]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" y="3602736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3639312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OWASP. (2021). OWASP Top Ten 2021.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922776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owasp.org — A03 Injection хуудас 1–4, A07 XSS хуудас 1–3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4315968"/>
            <a:ext cx="502920" cy="566928"/>
          </a:xfrm>
          <a:prstGeom prst="rect">
            <a:avLst/>
          </a:prstGeom>
          <a:solidFill>
            <a:srgbClr val="0F1829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31596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[6]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" y="4315968"/>
            <a:ext cx="8138160" cy="566928"/>
          </a:xfrm>
          <a:prstGeom prst="rect">
            <a:avLst/>
          </a:prstGeom>
          <a:solidFill>
            <a:srgbClr val="141F35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352544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Van Veenendaal, E. (2024). TMMi in Financial Domain. AJCST Vol.7(2).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8680" y="4636008"/>
            <a:ext cx="7973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American Journal of Computer Science — хуудас 43–50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41148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6400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Дүгнэлт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201168"/>
            <a:ext cx="182880" cy="182880"/>
          </a:xfrm>
          <a:prstGeom prst="ellipse">
            <a:avLst/>
          </a:prstGeom>
          <a:solidFill>
            <a:srgbClr val="00C9C8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" y="749808"/>
            <a:ext cx="4224528" cy="1920240"/>
          </a:xfrm>
          <a:prstGeom prst="rect">
            <a:avLst/>
          </a:prstGeom>
          <a:solidFill>
            <a:srgbClr val="141F35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749808"/>
            <a:ext cx="4224528" cy="54864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59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📐 ISO/IEC 25010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37160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Чанарыг 9 хэмжүүрээр тодорхойлдог. Бидний систем Usability, Reliability, Performance-д тэнцсэн ч Security-д шаардлага хангаагүй.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749808"/>
            <a:ext cx="4224528" cy="1920240"/>
          </a:xfrm>
          <a:prstGeom prst="rect">
            <a:avLst/>
          </a:prstGeom>
          <a:solidFill>
            <a:srgbClr val="141F35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49808"/>
            <a:ext cx="4224528" cy="5486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595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📊 TMMi Level 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137160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Plan, Test Cases боловсруулсан — Level 2 Managed хэрэгжлээ. Level 3 рүү дэвшихэд SDLC интеграц шаардлагатай.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834640"/>
            <a:ext cx="4224528" cy="1920240"/>
          </a:xfrm>
          <a:prstGeom prst="rect">
            <a:avLst/>
          </a:prstGeom>
          <a:solidFill>
            <a:srgbClr val="141F35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2834640"/>
            <a:ext cx="4224528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🔧 Tools хэрэглэсэн нь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5760" y="3456432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Selenium, Jest, Postman, OWASP ZAP хэрэгслүүдийн хослол бодит системийн бүрэн туршилтыг хангалттай хамраад байна.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4224528" cy="1920240"/>
          </a:xfrm>
          <a:prstGeom prst="rect">
            <a:avLst/>
          </a:prstGeom>
          <a:solidFill>
            <a:srgbClr val="141F3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2834640"/>
            <a:ext cx="4224528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443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🐛 3 Bug илэрсэн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846320" y="3456432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BUG-001 SQL Injection (CRITICAL), BUG-002 XSS (HIGH), BUG-003 Lockout (HIGH) — бүгд яаралтай засах шаардлагатай.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0F1829"/>
          </a:solidFill>
          <a:ln w="12700">
            <a:solidFill>
              <a:srgbClr val="00C9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0060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🔗 github.com/[багийн нэр]/sqa-login-test-2026  ·  Хамгаалах: 2026.03.20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5029200" cy="5029200"/>
          </a:xfrm>
          <a:prstGeom prst="ellipse">
            <a:avLst/>
          </a:prstGeom>
          <a:solidFill>
            <a:srgbClr val="0F1829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457200"/>
            <a:ext cx="3200400" cy="3200400"/>
          </a:xfrm>
          <a:prstGeom prst="ellipse">
            <a:avLst/>
          </a:prstGeom>
          <a:solidFill>
            <a:srgbClr val="141F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9C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АНХААРАЛТАЙ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9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СОНССОНД БАЯРЛАЛАА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743200" y="2834640"/>
            <a:ext cx="3657600" cy="457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9992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Асуулт байвал тавина уу 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ISO/IEC 25010  ·  TMMi  ·  Программ Хангамжийн Чанарын Үнэлгээ  ·  2026.03.20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2026-03-19T19:13:03Z</dcterms:created>
  <dcterms:modified xsi:type="dcterms:W3CDTF">2026-03-19T19:13:03Z</dcterms:modified>
</cp:coreProperties>
</file>