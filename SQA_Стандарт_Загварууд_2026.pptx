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ОЛОН УЛСЫН СТАНДАРТ БА ЗАГВАРУУД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Standards &amp; Models — Чанарыг хэмжих онолын хүрээ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0" y="1783080"/>
            <a:ext cx="4023360" cy="45720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3749040" cy="1737360"/>
          </a:xfrm>
          <a:prstGeom prst="rect">
            <a:avLst/>
          </a:prstGeom>
          <a:solidFill>
            <a:srgbClr val="0A1228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чанарын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олон улсын стандарт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3749040" cy="1737360"/>
          </a:xfrm>
          <a:prstGeom prst="rect">
            <a:avLst/>
          </a:prstGeom>
          <a:solidFill>
            <a:srgbClr val="0A1228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процессын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боловсронгуй байдлын загвар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0A122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502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Багийн нэр:  ________________________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Гишүүд:        _____________ | _____________ | _____________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Хамгаалах огноо: 2026.03.20 — 11:00 цагаас өмнө ITS Mandakh-д илгээх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Агуулгын Товч — Слайдын Жагсаалт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8046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Онолын үндэс — чанар гэж юу вэ?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25296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25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2252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стандарт — танилцуулга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45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 25010: Ашиглах боломж (Usability)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665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0665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 25010: Найдвартай байдал (Reliability)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87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 25010: Үр ашигт байдал (Performance)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07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 25010 — бидний системд хэрэглэсэн нь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328416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284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3284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загвар — танилцуулга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49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5 түвшний нарийвчилсан тайлбар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169664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696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1696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— бидний байгууллагын түвшин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590288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590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590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систем ба хэрэгслүүд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804672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804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8046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 (Туршилтын Төлөвлөгөө)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1225296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225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57800" y="12252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 — хүснэгт (1/2)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1645920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645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578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 — хүснэгт (2/2)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09160" y="2066544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0665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57800" y="20665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 хэрэгслийн жишээ код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09160" y="2487168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487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25780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GitHub-аас авсан кодын дүн шинжилгээ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09160" y="2907792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907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5780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 — BUG-001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09160" y="3328416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3284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257800" y="33284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 — BUG-002 &amp; 003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09160" y="3749040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749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25780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үр дүнгийн статистик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09160" y="4169664"/>
            <a:ext cx="4206240" cy="365760"/>
          </a:xfrm>
          <a:prstGeom prst="rect">
            <a:avLst/>
          </a:prstGeom>
          <a:solidFill>
            <a:srgbClr val="0D1B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41696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257800" y="41696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Ишлэл ба номзүй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709160" y="4590288"/>
            <a:ext cx="4206240" cy="365760"/>
          </a:xfrm>
          <a:prstGeom prst="rect">
            <a:avLst/>
          </a:prstGeom>
          <a:solidFill>
            <a:srgbClr val="162A40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4590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257800" y="4590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Дүгнэлт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Онолын Үндэс — Программ Хангамжийн Чанар гэж юу вэ?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"Программ хангамжийн чанар бол хэрэглэгчийн шаардлагыг бүрэн, найдвартай, аюулгүй, үр дүнтэй хангасан системийн нийлмэл шинж чанар юм."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06040" cy="9144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Suitability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554480"/>
            <a:ext cx="260604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89320" y="1554480"/>
            <a:ext cx="2606040" cy="9144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260604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651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2651760"/>
            <a:ext cx="2606040" cy="9144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2651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2651760"/>
            <a:ext cx="260604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2651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2606040" cy="9144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Compatibility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54680" y="3749040"/>
            <a:ext cx="260604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1" name="Text 19"/>
          <p:cNvSpPr/>
          <p:nvPr/>
        </p:nvSpPr>
        <p:spPr>
          <a:xfrm>
            <a:off x="315468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89320" y="3749040"/>
            <a:ext cx="2606040" cy="9144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25010:2023 — 9 үндсэн шинж чанар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Стандарт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чанарын олон улсын үнэлгээний хүрээ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Стандартын Танилцуулга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0233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Юу вэ?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нь программ хангамжийн чанарыг үнэлэх олон улсын SQuaRE стандарт юм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2011 онд ISO/IEC 9126-г шинэчлэн гаргасан — аюулгүй байдал, нийцтэй байдлыг нэмсэн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 онд шинэчлэгдэж 9 үндсэн шинж чанар болж өргөжсөн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40233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Зачем?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Хөгжүүлэгч, тестер, захиалагч нарт нийтлэг хэл өгдөг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Шаардлага тодорхойлох, туршилт хийх, үнэлгээ хийхэд ашигладаг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Арилжааны болон засгийн газрын системд өргөн хэрэглэгдэнэ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2971800"/>
            <a:ext cx="8595360" cy="1920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Хөгжлийн түүх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320040" cy="3200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794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1991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1330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9126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(эхний хувилбар)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3429000"/>
            <a:ext cx="320040" cy="3200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3794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41330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9126:2001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(шинэчлэл)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3429000"/>
            <a:ext cx="320040" cy="3200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794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1330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25010:2011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(SQuaRE)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429000"/>
            <a:ext cx="320040" cy="320040"/>
          </a:xfrm>
          <a:prstGeom prst="ellipse">
            <a:avLst/>
          </a:prstGeom>
          <a:solidFill>
            <a:srgbClr val="F4C43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794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1330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25010:2023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(одоогийн хувилбар)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" y="3566160"/>
            <a:ext cx="6858000" cy="457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Ашиглах Боломж (Usability)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Хэрэглэгчийн туршлагын шинж чанар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Ашиглах Боломж (Usability) ба Хэмжүүрүүд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Тодорхойлолт: Хэрэглэгч системийг ойлгож, сурч, ашиглахад хялбар байдал болон хэрэглэгчийн сэтгэл ханамжийн зэрэг.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1600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90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(Сурах хялбар байдал)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Хэрэглэгч анх удаа ашиглахад хэр хурдан сурах вэ?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Эхний ашиглалтын амжилтын хувь (%)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206240" cy="1600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490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18888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(Ажиллуулах хялбар байдал)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Системийг ажиллуулах, хянахад шаардагдах хүчин чармайлт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Click тоо нэг даалгавар дуусгахад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4206240" cy="1600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273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(Хүртээмжтэй байдал)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950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Тусгай хэрэгцээтэй хэрэглэгчид ашиглах боломж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407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WCAG 2.1 стандарт нийцлийн хувь (%)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200400"/>
            <a:ext cx="4206240" cy="1600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273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Error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18888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(Алдаанаас хамгаалалт)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3950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Хэрэглэгчийн алдааг урьдчилан сэргийлэх чадвар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4407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Алдааны тоо / нийт үйлдэл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Найдвартай Байдал (Reliability) ба Хэмжүүрүүд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Тодорхойлолт: Систем тогтоосон нөхцөлд, тогтоосон хугацаанд зөв ажиллах чадвар.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206240" cy="1645920"/>
          </a:xfrm>
          <a:prstGeom prst="rect">
            <a:avLst/>
          </a:prstGeom>
          <a:solidFill>
            <a:srgbClr val="1635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62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(Боломжит байдал)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 ажиллах шаардлагатай үед бэлэн байх хувь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3931920" cy="411480"/>
          </a:xfrm>
          <a:prstGeom prst="rect">
            <a:avLst/>
          </a:prstGeom>
          <a:solidFill>
            <a:srgbClr val="0A20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323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 = MTBF / (MTBF + MTTR) × 100%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15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≥ 99.9% uptime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98448"/>
            <a:ext cx="4206240" cy="1645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62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Tolerance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(Алдааг тэсвэрлэх чадвар)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993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Нэг хэсэг доголдсон ч систем үргэлжлүүлэн ажиллах чадвар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414016"/>
            <a:ext cx="3931920" cy="411480"/>
          </a:xfrm>
          <a:prstGeom prst="rect">
            <a:avLst/>
          </a:prstGeom>
          <a:solidFill>
            <a:srgbClr val="0A203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323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Fault Coverage = Detected Faults / Total Faults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615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≥ 95%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4206240" cy="1645920"/>
          </a:xfrm>
          <a:prstGeom prst="rect">
            <a:avLst/>
          </a:prstGeom>
          <a:solidFill>
            <a:srgbClr val="1635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91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(Сэргэх чадвар)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Доголдлын дараа нөхцөл байдлыг сэргээх хурд ба бүрэн байдал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42816"/>
            <a:ext cx="3931920" cy="411480"/>
          </a:xfrm>
          <a:prstGeom prst="rect">
            <a:avLst/>
          </a:prstGeom>
          <a:solidFill>
            <a:srgbClr val="0A2030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261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RTO (Recovery Time Objective) хэмжилт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4439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RTO &lt; 4 цаг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127248"/>
            <a:ext cx="4206240" cy="1645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191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Maturity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(Боловсронгуй байдал)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Хэвийн нөхцөлд тогтвортой, найдвартай ажиллах чадвар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242816"/>
            <a:ext cx="3931920" cy="411480"/>
          </a:xfrm>
          <a:prstGeom prst="rect">
            <a:avLst/>
          </a:prstGeom>
          <a:solidFill>
            <a:srgbClr val="0A203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261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MTBF = Нийт ажлын цаг / Доголдлын тоо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4439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MTBF &gt; 720 цаг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Үр Ашигт Байдал (Performance Efficiency) ба Хэмжүүрүүд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Тодорхойлолт: Тодорхой нөхцөлд нөөцийг (цаг, санах ой, CPU, сүлжээ) оновчтой ашиглан гүйцэтгэл хангах чадвар.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3611880"/>
          </a:xfrm>
          <a:prstGeom prst="rect">
            <a:avLst/>
          </a:prstGeom>
          <a:solidFill>
            <a:srgbClr val="0E7C86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Behavior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(Хугацааны зан төлөв)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Хариу өгөх хугацаа, гүйцэтгэлийн хурд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Response time: &lt; 200ms (хэвийн)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990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Throughput: req/sec хэмжилт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741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Latency: мс-ээр хэмждэг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663440"/>
            <a:ext cx="2651760" cy="137160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681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Tool: JMeter, Gatling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280160"/>
            <a:ext cx="2834640" cy="3611880"/>
          </a:xfrm>
          <a:prstGeom prst="rect">
            <a:avLst/>
          </a:prstGeom>
          <a:solidFill>
            <a:srgbClr val="16354A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3533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Utilization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(Нөөц ашиглалт)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CPU, RAM, Network-ийн ашиглалтын хувь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CPU: &lt; 80% ачааллын үед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990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RAM: &lt; 70% ашиглалт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3741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Network: bandwidth хэмжилт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4663440"/>
            <a:ext cx="2651760" cy="137160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4681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Tool: Prometheus, Grafana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280160"/>
            <a:ext cx="2834640" cy="3611880"/>
          </a:xfrm>
          <a:prstGeom prst="rect">
            <a:avLst/>
          </a:prstGeom>
          <a:solidFill>
            <a:srgbClr val="0E7C86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3533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Capacity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(Хүчин чадал)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Тодорхой нөхцөлд дааж чадах дээд хэмжээ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Max concurrent users тест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990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Load test: 100/500/1000 хэрэглэгч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3741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Stress test: хязгаар тодорхойлох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663440"/>
            <a:ext cx="2651760" cy="137160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4681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Tool: Apache JMeter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Бидний Системд Хэрэглэсэн Нь (Login Module)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06908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1371600"/>
                <a:gridCol w="2560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Шинж чанар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Хэмжсэн хэмжүүр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Үр дүн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Дүгнэлт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Usability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 completion rate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82%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Хангалттай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Reliability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Uptime % (3 хоног)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99.7%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Өндөр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Response time (avg)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187ms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Зорилтод багтсан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 Injection тест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⚠ Засах шаардлагатай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XSS тест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⚠ Засах шаардлагатай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Maintainability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Code coverage (Jest)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700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74%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4700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Дунд зэрэг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Судалгааны үндэс: ISO/IEC 25010:2011, хуудас 1–15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011680" y="1371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— Test Maturity Model Integration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D1B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Байгууллагын туршилтын процессын боловсронгуй байдлын загвар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— Загварын Танилцуулга ба Бүтэц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20624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гэж юу вэ?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Maturity Model Integration — туршилтын процессыг үнэлэх, сайжруулах олон улсын загвар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Foundation (2005) байгуулж, CMMI загвар дээр суурилан туршилтад зориулан боловсруулсан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түвшин, нийт 16 процессын хэсэг, 843 дэд практик агуулдаг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ISTQB стандарттай нийцтэй — нэг нэршил, ижил аргачлал ашигладаг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54880" y="804672"/>
            <a:ext cx="4114800" cy="4069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41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Бүтэц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1298448"/>
            <a:ext cx="3840480" cy="5303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35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Maturity Levels (1–5)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Боловсронгуй байдлын түвшин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920240"/>
            <a:ext cx="3840480" cy="530352"/>
          </a:xfrm>
          <a:prstGeom prst="rect">
            <a:avLst/>
          </a:prstGeom>
          <a:solidFill>
            <a:srgbClr val="1635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956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Areas (16)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үйл явцын хэсгүүд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2542032"/>
            <a:ext cx="3840480" cy="5303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Specific Goals (SG)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816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Тодорхой зорилтууд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3163824"/>
            <a:ext cx="3840480" cy="530352"/>
          </a:xfrm>
          <a:prstGeom prst="rect">
            <a:avLst/>
          </a:prstGeom>
          <a:solidFill>
            <a:srgbClr val="1635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Specific Practices (SP)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438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Хэрэгжүүлэх практикууд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785616"/>
            <a:ext cx="3840480" cy="5303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Sub-Practices (843)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4059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Нарийвчилсан үйл ажиллагаа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429000"/>
            <a:ext cx="42062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Яагаад TMMi хэрэгтэй вэ?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CMMI нь туршилтад хязгаарлагдмал анхаарал хандуулдаг — TMMi энэ дутагдлыг нөхнө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процессыг тасралтгүй сайжруулах бодит зам гаргана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— 5 Боловсронгуй байдлын Түвшин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0" cy="777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60120" y="804672"/>
            <a:ext cx="790956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8412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207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Тестийн тогтсон процесс байхгүй. Ad-hoc, санамсаргүй туршилт. Debugging-тэй хольж хутгадаг.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841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 Жижиг startup компани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207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PA: Процессын хэсэг байхгүй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55064"/>
            <a:ext cx="640080" cy="777240"/>
          </a:xfrm>
          <a:prstGeom prst="rect">
            <a:avLst/>
          </a:prstGeom>
          <a:solidFill>
            <a:srgbClr val="D4700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5506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60120" y="1655064"/>
            <a:ext cx="790956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D47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2057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Тусдаа туршилтын стратеги боловсруулна. Туршилтын төлөвлөгөө, тохиолдол, орчин бий болно.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 Дунд хэмжээний IT компани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057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PA: 5 PA: Test Policy &amp; Strategy, Planning, Monitoring, Design, Environment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505456"/>
            <a:ext cx="640080" cy="777240"/>
          </a:xfrm>
          <a:prstGeom prst="rect">
            <a:avLst/>
          </a:prstGeom>
          <a:solidFill>
            <a:srgbClr val="1A6B2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50545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960120" y="2505456"/>
            <a:ext cx="790956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1A6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542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2907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Бүх төсөл нэг нийтлэг стандарт дагана. Туршилт SDLC-д бүрэн интегрчлэгдсэн. Мэргэжлийн тестер бий.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 Томоохон программ хангамжийн компани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907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PA: 5 PA: Test Org, Training, Life Cycle, Non-Functional, Peer Reviews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355848"/>
            <a:ext cx="640080" cy="7772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35584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60120" y="3355848"/>
            <a:ext cx="790956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392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3758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Статистик хэмжилт ашиглан туршилтын чанарыг удирддаг. Дефект урьдчилан таамаглах боломжтой.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3392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 Банк, санхүүгийн байгуулллага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7581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PA: 3 PA: Advanced Reviews, Statistical Test, Defect Prevention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206240"/>
            <a:ext cx="640080" cy="77724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2062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960120" y="4206240"/>
            <a:ext cx="790956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42428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51560" y="4608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Байнгын сайжруулалт. Шинэ техник, хэрэгслийг судлан нэвтрүүлнэ. Test automation нэн дээд.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42428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 Google, Microsoft зэрэг tech giant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4608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PA: 3 PA: Quality Control, Test Process Optimization, Application of New Tech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— Бидний Байгууллагын Одоогийн Түвшний Үнэлгээ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Бидний хийсэн Login системийн туршилтын процессыг TMMi загварын дагуу үнэлсэн: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463040" cy="2194560"/>
          </a:xfrm>
          <a:prstGeom prst="rect">
            <a:avLst/>
          </a:prstGeom>
          <a:solidFill>
            <a:srgbClr val="0E7C86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261872"/>
            <a:ext cx="1463040" cy="2560320"/>
          </a:xfrm>
          <a:prstGeom prst="rect">
            <a:avLst/>
          </a:prstGeom>
          <a:solidFill>
            <a:srgbClr val="D4700A"/>
          </a:solidFill>
          <a:ln w="254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2984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1261872"/>
            <a:ext cx="1463040" cy="219456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2984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261872"/>
            <a:ext cx="1463040" cy="219456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2984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1261872"/>
            <a:ext cx="1463040" cy="219456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2984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0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Одоогийн түвшин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315968"/>
            <a:ext cx="859536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34256"/>
            <a:ext cx="8229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Туршилтын төлөвлөгөө (Test Plan) боловсруулсан — Level 2 шаардлага хангасан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✘ Туршилт SDLC-д бүрэн интегрчлэгдээгүй — Level 3 рүү дэвших шаардлагатай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Систем ба Ашигласан Хэрэгслүүд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System — туршилтын объект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 + Express backend, HTML/CSS/JS frontend, SQLite database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Функциональ хэсгүүд: Register, Login, Logout, Session, Validation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GitHub: github.com/[багийн нэр]/sqa-login-test-2026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1920240" cy="1188720"/>
          </a:xfrm>
          <a:prstGeom prst="rect">
            <a:avLst/>
          </a:prstGeom>
          <a:solidFill>
            <a:srgbClr val="0E7C86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 WebDriver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Test Automation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822960"/>
            <a:ext cx="1920240" cy="1188720"/>
          </a:xfrm>
          <a:prstGeom prst="rect">
            <a:avLst/>
          </a:prstGeom>
          <a:solidFill>
            <a:srgbClr val="0D1B4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Postman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Testing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40280"/>
            <a:ext cx="1920240" cy="1188720"/>
          </a:xfrm>
          <a:prstGeom prst="rect">
            <a:avLst/>
          </a:prstGeom>
          <a:solidFill>
            <a:srgbClr val="0E7C86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898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240280"/>
            <a:ext cx="1920240" cy="1188720"/>
          </a:xfrm>
          <a:prstGeom prst="rect">
            <a:avLst/>
          </a:prstGeom>
          <a:solidFill>
            <a:srgbClr val="0D1B4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 ZAP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2898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971800"/>
            <a:ext cx="411480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 хураангуй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Хамрах хүрээ: Нэвтрэх, бүртгэх, гарах, нууц үг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арга: Unit, Integration, Security, Performance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Хугацаа: 2026.03.10 – 03.18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Хүлээн авах шалгуур: 90%+ pass rate, 0 критик bug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754880" y="2999232"/>
            <a:ext cx="4023360" cy="1965960"/>
          </a:xfrm>
          <a:prstGeom prst="rect">
            <a:avLst/>
          </a:prstGeom>
          <a:solidFill>
            <a:srgbClr val="0A122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44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орчин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45643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06440" y="345643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11 / Ubuntu 22.04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8039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380390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Chrome 121, Firefox 120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15137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Node.js: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415137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v20.11.0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49884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DB: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44988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 3.41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Төлөвлөгөө (Test Plan) — IEEE 829 Стандарт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6" name="Shape 4"/>
          <p:cNvSpPr/>
          <p:nvPr/>
        </p:nvSpPr>
        <p:spPr>
          <a:xfrm>
            <a:off x="3035808" y="804672"/>
            <a:ext cx="5833872" cy="4572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04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Test Plan Identifier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27248" y="8046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TP-SQA-2026-001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2743200" cy="4572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0" name="Shape 8"/>
          <p:cNvSpPr/>
          <p:nvPr/>
        </p:nvSpPr>
        <p:spPr>
          <a:xfrm>
            <a:off x="3035808" y="1325880"/>
            <a:ext cx="5833872" cy="457200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Зорилго &amp; Хамрах хүрээ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27248" y="1325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Login, Register, Logout, Validation функцуудыг бүрэн туршина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2743200" cy="4572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035808" y="1847088"/>
            <a:ext cx="5833872" cy="4572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847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Туршилтын арга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27248" y="18470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Black-box: Functional, Security | White-box: Unit (Jest)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368296"/>
            <a:ext cx="2743200" cy="4572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8" name="Shape 16"/>
          <p:cNvSpPr/>
          <p:nvPr/>
        </p:nvSpPr>
        <p:spPr>
          <a:xfrm>
            <a:off x="3035808" y="2368296"/>
            <a:ext cx="5833872" cy="457200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682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Хүн хүч &amp; Хариуцлага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27248" y="23682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Lead + 2 Tester + 1 Developer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2743200" cy="4572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2" name="Shape 20"/>
          <p:cNvSpPr/>
          <p:nvPr/>
        </p:nvSpPr>
        <p:spPr>
          <a:xfrm>
            <a:off x="3035808" y="2889504"/>
            <a:ext cx="5833872" cy="4572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889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Хуваарь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27248" y="28895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2026.03.10 эхлэх — 2026.03.18 дуусах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410712"/>
            <a:ext cx="2743200" cy="4572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3410712"/>
            <a:ext cx="5833872" cy="457200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4107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Эрсдэл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27248" y="3410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Injection, XSS, Account lockout — P1 эрсдэл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2743200" cy="4572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0" name="Shape 28"/>
          <p:cNvSpPr/>
          <p:nvPr/>
        </p:nvSpPr>
        <p:spPr>
          <a:xfrm>
            <a:off x="3035808" y="3931920"/>
            <a:ext cx="5833872" cy="4572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Хүлээн авах шалгуур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27248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 rate ≥ 90%, Critical bug = 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453128"/>
            <a:ext cx="2743200" cy="4572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4" name="Shape 32"/>
          <p:cNvSpPr/>
          <p:nvPr/>
        </p:nvSpPr>
        <p:spPr>
          <a:xfrm>
            <a:off x="3035808" y="4453128"/>
            <a:ext cx="5833872" cy="457200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453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Хэрэгслүүд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27248" y="44531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Selenium, Postman, Jest, OWASP ZAP, JMeter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Ишлэл: Black, R. (2017). Critical Testing Processes. Addison-Wesley — хуудас 201–219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Тохиолдлууд (Test Cases) — Login Функц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069080"/>
        </p:xfrm>
        <a:graphic>
          <a:graphicData uri="http://schemas.openxmlformats.org/drawingml/2006/table">
            <a:tbl>
              <a:tblPr/>
              <a:tblGrid>
                <a:gridCol w="777240"/>
                <a:gridCol w="1920240"/>
                <a:gridCol w="2011680"/>
                <a:gridCol w="2377440"/>
                <a:gridCol w="11430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TC-ID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Тохиолдол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Оролт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Хүлээгдэх үр дүн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Статус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Зөв нэвтрэх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 / Admin@123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 руу шилжих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Буруу нууц үг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 / wrongpass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'Нууц үг буруу' мессеж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Хоосон нэр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(хоосон) / pass123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'Заавал бөглөх' alert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 Injection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 OR 1=1 --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Хандах эрхгүй, error буцаана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Олон удаа буруу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admin/wrong (x5)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Account lock мессеж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Ишлэл: Myers, G.J. (2011). The Art of Software Testing, 3rd ed. — хуудас 45–62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Тохиолдлууд (Test Cases) — Register Функц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069080"/>
        </p:xfrm>
        <a:graphic>
          <a:graphicData uri="http://schemas.openxmlformats.org/drawingml/2006/table">
            <a:tbl>
              <a:tblPr/>
              <a:tblGrid>
                <a:gridCol w="777240"/>
                <a:gridCol w="1920240"/>
                <a:gridCol w="2011680"/>
                <a:gridCol w="2377440"/>
                <a:gridCol w="11430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TC-ID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Тохиолдол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Оролт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Хүлээгдэх үр дүн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Статус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Зөв бүртгэл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Бүх зөв талбар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Амжилттай бүртгэл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Давхцсан email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Байгаа email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'Бүртгэлтэй байна' алдаа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Нууц үг богино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Pass: 12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'Min 8 тэмдэгт' мессеж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XSS оролт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&lt;script&gt;alert(1)&lt;/script&gt;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 sanitize, tag устгах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TC-10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Email формат буруу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test@invalid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'Email формат буруу' алдаа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Ишлэл: IEEE 829:2008 — Test case document standard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GitHub-аас Авсан Selenium Кодын Жишээ ба Дүн Шинжилгээ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Эх сурвалж: github.com/harishyadav15/NodeJS-Login-Test — Selenium WebDriver + Node.js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8229600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NodeJS-Login-Test — Selenium WebDriver жишээ (GitHub-аас)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webdriver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require(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'selenium-webdriver'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By, until }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webdriver;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loginTest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driver =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webdriver.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forBrowser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'chrome'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'http://localhost:3000/login'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findElement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(By.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'username'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sendKeys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findElement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(By.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'submit-btn'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(until.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urlContains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'/dashboard'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5000);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'✅ TC-01 PASS'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await driver.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loginTest();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794760"/>
            <a:ext cx="8595360" cy="114300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Кодын дүн шинжилгээ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Builder pattern ашигласан — орчны өөрчлөлтөд уян хатан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async/await синтакс — хэвлэлийн стандарт Node.js туршилт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✘ assert/expect байхгүй — зөвхөн URL шалгасан, assertion дутмаг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Алдааны Тайлан (Bug Report) — BUG-001: SQL Injection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560320" cy="4297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6" name="Shape 4"/>
          <p:cNvSpPr/>
          <p:nvPr/>
        </p:nvSpPr>
        <p:spPr>
          <a:xfrm>
            <a:off x="2852928" y="804672"/>
            <a:ext cx="6016752" cy="42976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04672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44368" y="804672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2560320" cy="4297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0" name="Shape 8"/>
          <p:cNvSpPr/>
          <p:nvPr/>
        </p:nvSpPr>
        <p:spPr>
          <a:xfrm>
            <a:off x="2852928" y="1298448"/>
            <a:ext cx="6016752" cy="429768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98448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Гарчиг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44368" y="1298448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форм — SQL Injection хамгаалалтгүй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2560320" cy="4297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52928" y="1792224"/>
            <a:ext cx="6016752" cy="42976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792224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Огноо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44368" y="1792224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2026.03.14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2560320" cy="4297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8" name="Shape 16"/>
          <p:cNvSpPr/>
          <p:nvPr/>
        </p:nvSpPr>
        <p:spPr>
          <a:xfrm>
            <a:off x="2852928" y="2286000"/>
            <a:ext cx="6016752" cy="429768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28600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Хэсэг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44368" y="2286000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Module / /api/login endpoint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779776"/>
            <a:ext cx="2560320" cy="4297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2" name="Shape 20"/>
          <p:cNvSpPr/>
          <p:nvPr/>
        </p:nvSpPr>
        <p:spPr>
          <a:xfrm>
            <a:off x="2852928" y="2779776"/>
            <a:ext cx="6016752" cy="42976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779776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Хүндийн зэрэг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44368" y="2779776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🔴 CRITICAL — P1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273552"/>
            <a:ext cx="2560320" cy="4297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6" name="Shape 24"/>
          <p:cNvSpPr/>
          <p:nvPr/>
        </p:nvSpPr>
        <p:spPr>
          <a:xfrm>
            <a:off x="2852928" y="3273552"/>
            <a:ext cx="6016752" cy="429768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273552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Статус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44368" y="3273552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— Яаралтай засах шаардлагатай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767328"/>
            <a:ext cx="2560320" cy="4297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0" name="Shape 28"/>
          <p:cNvSpPr/>
          <p:nvPr/>
        </p:nvSpPr>
        <p:spPr>
          <a:xfrm>
            <a:off x="2852928" y="3767328"/>
            <a:ext cx="6016752" cy="42976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767328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тохиолдол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44368" y="3767328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261104"/>
            <a:ext cx="2560320" cy="4297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4" name="Shape 32"/>
          <p:cNvSpPr/>
          <p:nvPr/>
        </p:nvSpPr>
        <p:spPr>
          <a:xfrm>
            <a:off x="2852928" y="4261104"/>
            <a:ext cx="6016752" cy="429768"/>
          </a:xfrm>
          <a:prstGeom prst="rect">
            <a:avLst/>
          </a:prstGeom>
          <a:solidFill>
            <a:srgbClr val="DDE8E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261104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Хэрэгсэл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44368" y="4261104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 ZAP + Postman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4773168"/>
            <a:ext cx="4114800" cy="274320"/>
          </a:xfrm>
          <a:prstGeom prst="rect">
            <a:avLst/>
          </a:prstGeom>
          <a:solidFill>
            <a:srgbClr val="FF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7914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Буруу: query = `...WHERE user='${input}'`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773168"/>
            <a:ext cx="4297680" cy="274320"/>
          </a:xfrm>
          <a:prstGeom prst="rect">
            <a:avLst/>
          </a:prstGeom>
          <a:solidFill>
            <a:srgbClr val="E8FFE8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791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Засвар: Parameterized query ашиглах → WHERE user=?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Алдааны Тайлан (Bug Report) — BUG-002 &amp; BUG-003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965960"/>
          </a:xfrm>
          <a:prstGeom prst="rect">
            <a:avLst/>
          </a:prstGeom>
          <a:solidFill>
            <a:srgbClr val="FFF3CD"/>
          </a:solidFill>
          <a:ln w="19050">
            <a:solidFill>
              <a:srgbClr val="D47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70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BUG-002  |  🟠 HIGH — P2  |  XSS Эмзэг байдал (TC-09)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Нөхцөл: Register форм дээр &lt;script&gt;alert('XSS')&lt;/script&gt; оруулахад alert цонх гарч ирнэ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Хүлээгдэх: Input санитаасжуулах, HTML tag устгах ёстой байсан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Хэмжилт хэрэгсэл: OWASP ZAP автомат скан — HIGH severity илэрсэн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Засах: DOMPurify эсвэл helmet.js ашиглан CSP тохиргоо хийх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8595360" cy="1965960"/>
          </a:xfrm>
          <a:prstGeom prst="rect">
            <a:avLst/>
          </a:prstGeom>
          <a:solidFill>
            <a:srgbClr val="FFF3CD"/>
          </a:solidFill>
          <a:ln w="19050">
            <a:solidFill>
              <a:srgbClr val="D47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352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70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BUG-003  |  🟠 HIGH — P2  |  Account Lockout байхгүй (TC-05)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355848"/>
            <a:ext cx="82296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Нөхцөл: Буруу нэвтрэлтийг 100+ удаа давтах боломжтой — блоклогддоггүй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Хүлээгдэх: 5 удааны дараа 15 мин хаах (Brute-force хамгаалалт)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Хэмжилт хэрэгсэл: Postman Collection Runner — 100 хүсэлт явуулсан, бүгд амжилттай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Засах: express-rate-limit + Redis ашиглан account lockout логик нэмэх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Ишлэл: OWASP Top 10:2021 — A07 (XSS), A03 (Injection) хуудас 1–8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Үр Дүнгийн Хураангуй Статистик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1920240" cy="1737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18928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Нийт Test Case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804672"/>
            <a:ext cx="1920240" cy="173736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822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560320" y="18928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1920240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822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709160" y="18928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804672"/>
            <a:ext cx="1920240" cy="1737360"/>
          </a:xfrm>
          <a:prstGeom prst="rect">
            <a:avLst/>
          </a:prstGeom>
          <a:solidFill>
            <a:srgbClr val="D4700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822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858000" y="18928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4160520" cy="2057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үнэлгээ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246120"/>
            <a:ext cx="3931920" cy="1508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Usability: 82% ✓ Хангалттай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Reliability: 99.7% ✓ Өндөр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Performance: 187ms ✓ Зорилтод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Security: 2 FAIL ✗ Яаралтай засах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4160520" cy="2057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үнэлгээ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246120"/>
            <a:ext cx="3931920" cy="1508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Одоогийн түвшин: Level 2 — Managed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 боловсруулсан ✓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орчин бий ✓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3 рүү: SDLC интеграц шаардлагатай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Ашигласан Ном, Судалгааны Ажлын Ишлэл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25010:2011. Systems and software engineering — SQuaRE — System and software quality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ISO. — Хуудас 1–15 (Quality characteristics, Reliability, Usability, Performance)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Myers, G. J., Sandler, C., &amp; Badgett, T. (2011). The Art of Software Testing, 3rd 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837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John Wiley &amp; Sons. — Хуудас 45–62 (Test case design), 89–104 (Bug reporting)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212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 Veenendaal, E. (2012). The TMMi Professional.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Uitgeverij Tutein Nolthenius. — Хуудас 23–41 (TMMi levels), 55–78 (Process areas)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9169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169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Pressman, R. S. (2014). Software Engineering: A Practitioner's Approach, 8th 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McGraw-Hill. — Хуудас 512–534 (Software testing strategies)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6210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6210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OWASP. (2021). OWASP Top Ten 2021.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owasp.org — A03 Injection (хуудас 1–4), A07 XSS (хуудас 1–3)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325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325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 Veenendaal, E. (2024). TMMi: Test Maturity in the Financial Domain.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654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American Journal of Computer Science and Technology, Vol.7(2). хуудас 43–50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Дүгнэлт ба GitHub Repository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331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Үндсэн дүгнэлт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стандарт нь чанарыг олон талаас хэмжиж, засварлах чиглэлийг тодорхой гаргаж өгдөг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загвар нь байгууллагын туршилтын процессыг Level 1-ээс Level 5 хүртэл системтэй сайжруулах зам гаргана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системийн туршилтаар 3 критик аюулгүй байдлын дутагдал илэрсэн — SQL Injection, XSS, Brute-force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 + OWASP ZAP + Postman хэрэгслүүдийн хослол бодит туршилтын бүрэн хамрах хүрээг хангасан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3246120"/>
            <a:ext cx="8595360" cy="1691640"/>
          </a:xfrm>
          <a:prstGeom prst="rect">
            <a:avLst/>
          </a:prstGeom>
          <a:solidFill>
            <a:srgbClr val="0D1B40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10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🔗 GitHub Repository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30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github.com/[багийн нэр]/sqa-login-test-2026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Агуулга: Selenium test scripts | Jest unit tests | Postman collection | Bug evidence screenshots | Test results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Анхааралтай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Сонссонд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Баярлалаа!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C4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 |  TMMi  |  Программ Хангамжийн Чанарын Үнэлгээ — 2026.03.20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8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Асуулт байвал тавина уу 🙏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Олон Улсын Стандарт ба Загварууд</dc:title>
  <dc:subject>PptxGenJS Presentation</dc:subject>
  <dc:creator>PptxGenJS</dc:creator>
  <cp:lastModifiedBy>PptxGenJS</cp:lastModifiedBy>
  <cp:revision>1</cp:revision>
  <dcterms:created xsi:type="dcterms:W3CDTF">2026-03-19T18:47:14Z</dcterms:created>
  <dcterms:modified xsi:type="dcterms:W3CDTF">2026-03-19T18:47:14Z</dcterms:modified>
</cp:coreProperties>
</file>